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Vehicle-minutes lost (top cells)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veh-min lost</c:v>
                </c:pt>
              </c:strCache>
            </c:strRef>
          </c:tx>
          <c:spPr>
            <a:solidFill>
              <a:srgbClr val="0E2A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a01b</c:v>
                  </c:pt>
                  <c:pt idx="1">
                    <c:v>e4c3</c:v>
                  </c:pt>
                  <c:pt idx="2">
                    <c:v>acf</c:v>
                  </c:pt>
                  <c:pt idx="3">
                    <c:v>259a</c:v>
                  </c:pt>
                  <c:pt idx="4">
                    <c:v>209b</c:v>
                  </c:pt>
                  <c:pt idx="5">
                    <c:v>145a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1665</c:v>
                </c:pt>
                <c:pt idx="1">
                  <c:v>1665</c:v>
                </c:pt>
                <c:pt idx="2">
                  <c:v>1665</c:v>
                </c:pt>
                <c:pt idx="3">
                  <c:v>403</c:v>
                </c:pt>
                <c:pt idx="4">
                  <c:v>403</c:v>
                </c:pt>
                <c:pt idx="5">
                  <c:v>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blind-spot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1 — de-biased, demand-anchored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2 — Mappls-calibrated congestion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3 — deterrence DiD with honest caveat.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4 — the live what-if twin (showpiece).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 routed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full pipeline + Mappls usage.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120640" cy="5120640"/>
          </a:xfrm>
          <a:prstGeom prst="ellipse">
            <a:avLst/>
          </a:prstGeom>
          <a:solidFill>
            <a:srgbClr val="173A5E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840480" cy="3840480"/>
          </a:xfrm>
          <a:prstGeom prst="ellipse">
            <a:avLst/>
          </a:prstGeom>
          <a:solidFill>
            <a:srgbClr val="173A5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PARKLENS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68680" y="3154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parking hotspots the data can't see — and pricing the congestion they cause.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298k violations</a:t>
            </a:r>
            <a:pPr indent="0" marL="0">
              <a:buNone/>
            </a:pPr>
            <a:r>
              <a:rPr lang="en-US" sz="150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de-biased risk   •   Mappls-calibrated impact   •   live what-if twin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E8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Bengaluru traffic-enforcement intelligence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7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Enforcement looks where it already looks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counts measure where officers go — not where violations actually happen. The worst spots can look clean simply because nobody patrols them.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108960"/>
            <a:ext cx="6492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323697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Counting bias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35661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High-violation cells with low patrol vanish from a raw heatmap.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6492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424281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price tag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45720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"Lots of tickets" doesn't tell a commissioner what congestion costs.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5120640"/>
            <a:ext cx="6492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524865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deployment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55778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aren't routed to the highest-impact cells, or fairly.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0" y="1783080"/>
            <a:ext cx="3749040" cy="4160520"/>
          </a:xfrm>
          <a:prstGeom prst="roundRect">
            <a:avLst>
              <a:gd name="adj" fmla="val 1951"/>
            </a:avLst>
          </a:prstGeom>
          <a:solidFill>
            <a:srgbClr val="0E2A4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18120" y="21031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blind-spot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818120" y="32004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620</a:t>
            </a:r>
            <a:endParaRPr lang="en-US" sz="5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flagged as shadow hotspots — high true risk, low enforcement</a:t>
            </a:r>
            <a:endParaRPr lang="en-US" sz="5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clean months of Bengaluru violations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488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298,130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05840" y="2926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logged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11880" y="19202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11880" y="21488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2,534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794760" y="2926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hex cells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9202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21488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35,425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583680" y="2926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vehicles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89720" y="19202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89720" y="21488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34.1%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372600" y="2926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violations by repeat offenders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114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Window: </a:t>
            </a:r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Nov 2023 – 8 Apr 2024.   </a:t>
            </a:r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violation: </a:t>
            </a:r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parking.   </a:t>
            </a:r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</a:t>
            </a:r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res-9 hexagons — equal-area, unbiased, clean Mappls joins.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Cleaned, de-duplicated and day-grain aggregated by Member A (Contract 1 → B &amp; C).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7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 · TRUE RISK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De-biased risk, anchored to real demand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model with a patrol-exposure offset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 the violation rate the raw counts hide. We then keep only blind spots that Mappls POI data confirms are genuine demand magnets.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200400"/>
            <a:ext cx="6126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341985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offset 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≠ tickets ÷ patrol effort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6126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428853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anchor 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Mappls Nearby POI confirms pull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937760"/>
            <a:ext cx="6126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51560" y="515721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SHAP-explained 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unique_officers &amp; exposure drive the flag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0" y="1783080"/>
            <a:ext cx="4023360" cy="4160520"/>
          </a:xfrm>
          <a:prstGeom prst="roundRect">
            <a:avLst>
              <a:gd name="adj" fmla="val 1818"/>
            </a:avLst>
          </a:prstGeom>
          <a:solidFill>
            <a:srgbClr val="0E2A4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43800" y="20116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Demand-anchored shadow hotspots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543800" y="283464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60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high-risk, low-patrol cells with strong nearby POI demand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7543800" y="5212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cells to patrol first.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 ·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Congestion cost, calibrated by Mappls live traffic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Modified-BPR delay engine. </a:t>
            </a:r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is back-solved from Mappls typical-vs-freeflow ETA, then we add the illegal-occupancy share — "we calibrated volume," not "we assumed it."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1,665</a:t>
            </a:r>
            <a:endParaRPr lang="en-US" sz="46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vehicle-minutes lost at the worst cell, per peak window  ≈  ₹4,994</a:t>
            </a:r>
            <a:endParaRPr lang="en-US" sz="4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315200" y="1783080"/>
          <a:ext cx="4114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7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3 · DETERRENCE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enforcing a zone actually help?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Zone-month difference-in-differences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five clean months: above-median-enforced zones are compared with matched low-enforcement zones in the following month.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108960"/>
            <a:ext cx="6400800" cy="137160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3310128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zones show lower subsequent violations than matched controls — the ROI rationale for routed deployment.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589520" y="1783080"/>
            <a:ext cx="3749040" cy="2651760"/>
          </a:xfrm>
          <a:prstGeom prst="roundRect">
            <a:avLst>
              <a:gd name="adj" fmla="val 2759"/>
            </a:avLst>
          </a:prstGeom>
          <a:solidFill>
            <a:srgbClr val="0E2A4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1812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caveat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818120" y="251460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Treated zones start highest, so part of the drop is regression to the mean. We report the effect with that caveat rather than overclaim causality.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89520" y="46177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 curve is shown as recidivism context — not as the deterrence proof.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4 · THE SHOWPIECE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a hotspot — watch the corridor recover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digital twin of a real arterial. Toggle a hotspot off and B's Mappls-calibrated engine recomputes the corridor in real time.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73A5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9260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1,666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51560" y="38862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vehicle-minutes recovered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265176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73A5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29260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₹4,997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800600" y="38862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peak window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321040" y="265176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73A5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21040" y="29260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cell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549640" y="38862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 on the corridor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match B's published veh_min_lost for the cell — the twin and the impact table agree.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INSIGHT TO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Fair, routed deployment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are routed to the highest impact-weighted cells within each station, with a fairness constraint so enforcement isn't dumped on one ward.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926080"/>
            <a:ext cx="6400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31821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Impact-weighted 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× veh-min × severity ranks the queue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886200"/>
            <a:ext cx="6400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414223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Mappls VRP 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optimisation + 15-min Isopolygon coverage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846320"/>
            <a:ext cx="6400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51560" y="51023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fairness 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across wards, not piled on one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589520" y="1783080"/>
            <a:ext cx="3749040" cy="4160520"/>
          </a:xfrm>
          <a:prstGeom prst="roundRect">
            <a:avLst>
              <a:gd name="adj" fmla="val 1951"/>
            </a:avLst>
          </a:prstGeom>
          <a:solidFill>
            <a:srgbClr val="0E2A4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18120" y="2057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 score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818120" y="27432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6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across wards, 3 officers per station</a:t>
            </a:r>
            <a:endParaRPr lang="en-US" sz="6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206240"/>
            <a:ext cx="4572000" cy="4572000"/>
          </a:xfrm>
          <a:prstGeom prst="ellipse">
            <a:avLst/>
          </a:prstGeom>
          <a:solidFill>
            <a:srgbClr val="173A5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it. Price it. Act on it.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73A5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560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5156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3566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298k rows → H3, severity, exposure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11880" y="237744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73A5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40480" y="2560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84048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Blind spots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40480" y="3566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de-biased risk + Mappls demand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237744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73A5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29400" y="2560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62940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29400" y="3566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Mappls-calibrated MBPR → ₹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89720" y="237744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73A5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18320" y="2560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41832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Twin + Deploy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18320" y="3566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recovery + fair routing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Mappls end-to-end — Snap-to-Road, Nearby POI, ETA, VRP, Isopolygon. No OpenStreetMap.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5943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PARKLENS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PARKLENS</dc:title>
  <dc:subject>PptxGenJS Presentation</dc:subject>
  <dc:creator>PARKLENS — Member C</dc:creator>
  <cp:lastModifiedBy>PARKLENS — Member C</cp:lastModifiedBy>
  <cp:revision>1</cp:revision>
  <dcterms:created xsi:type="dcterms:W3CDTF">2026-06-19T15:39:39Z</dcterms:created>
  <dcterms:modified xsi:type="dcterms:W3CDTF">2026-06-19T15:39:39Z</dcterms:modified>
</cp:coreProperties>
</file>